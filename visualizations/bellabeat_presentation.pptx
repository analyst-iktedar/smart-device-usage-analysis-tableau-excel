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1" name="Google Shape;251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1A1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FA907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-731520" y="-731520"/>
            <a:ext cx="2926080" cy="2926080"/>
          </a:xfrm>
          <a:prstGeom prst="ellipse">
            <a:avLst/>
          </a:prstGeom>
          <a:solidFill>
            <a:srgbClr val="F98063">
              <a:alpha val="6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548640" y="3474720"/>
            <a:ext cx="1828800" cy="1828800"/>
          </a:xfrm>
          <a:prstGeom prst="ellipse">
            <a:avLst/>
          </a:prstGeom>
          <a:solidFill>
            <a:srgbClr val="F98063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659674" y="320040"/>
            <a:ext cx="2540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1" lang="en-US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bellabeat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2116188" y="23382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Georgia"/>
              <a:buNone/>
            </a:pPr>
            <a:r>
              <a:rPr lang="en-US" sz="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®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274320" y="82296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AD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ADADD"/>
                </a:solidFill>
                <a:latin typeface="Calibri"/>
                <a:ea typeface="Calibri"/>
                <a:cs typeface="Calibri"/>
                <a:sym typeface="Calibri"/>
              </a:rPr>
              <a:t>Health-focused smart products for women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3749040" y="1005840"/>
            <a:ext cx="51206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Smart Device</a:t>
            </a:r>
            <a:endParaRPr sz="4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Usage Analysis</a:t>
            </a:r>
            <a:endParaRPr sz="4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749040" y="274320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4C4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E8C4C4"/>
                </a:solidFill>
                <a:latin typeface="Calibri"/>
                <a:ea typeface="Calibri"/>
                <a:cs typeface="Calibri"/>
                <a:sym typeface="Calibri"/>
              </a:rPr>
              <a:t>Insights to drive Bellabeat's marketing strategy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749040" y="2606040"/>
            <a:ext cx="3657600" cy="36576"/>
          </a:xfrm>
          <a:prstGeom prst="rect">
            <a:avLst/>
          </a:prstGeom>
          <a:solidFill>
            <a:srgbClr val="FA907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3749040" y="3291840"/>
            <a:ext cx="51206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8A0A0"/>
                </a:solidFill>
                <a:latin typeface="Calibri"/>
                <a:ea typeface="Calibri"/>
                <a:cs typeface="Calibri"/>
                <a:sym typeface="Calibri"/>
              </a:rPr>
              <a:t>Data Source: </a:t>
            </a:r>
            <a:r>
              <a:rPr lang="en-US" sz="1100">
                <a:solidFill>
                  <a:srgbClr val="B8A0A0"/>
                </a:solidFill>
                <a:latin typeface="Calibri"/>
                <a:ea typeface="Calibri"/>
                <a:cs typeface="Calibri"/>
                <a:sym typeface="Calibri"/>
              </a:rPr>
              <a:t>FitBit Fitness Tracker Data (Kaggle / Möbius)</a:t>
            </a:r>
            <a:br>
              <a:rPr lang="en-US" sz="1100">
                <a:solidFill>
                  <a:srgbClr val="B8A0A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00">
                <a:solidFill>
                  <a:srgbClr val="B8A0A0"/>
                </a:solidFill>
                <a:latin typeface="Calibri"/>
                <a:ea typeface="Calibri"/>
                <a:cs typeface="Calibri"/>
                <a:sym typeface="Calibri"/>
              </a:rPr>
              <a:t>Dataset: </a:t>
            </a:r>
            <a:r>
              <a:rPr lang="en-US" sz="1100">
                <a:solidFill>
                  <a:srgbClr val="B8A0A0"/>
                </a:solidFill>
                <a:latin typeface="Calibri"/>
                <a:ea typeface="Calibri"/>
                <a:cs typeface="Calibri"/>
                <a:sym typeface="Calibri"/>
              </a:rPr>
              <a:t>35 users · 1,388 records · March–May 2016</a:t>
            </a:r>
            <a:br>
              <a:rPr lang="en-US" sz="1100">
                <a:solidFill>
                  <a:srgbClr val="B8A0A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00">
                <a:solidFill>
                  <a:srgbClr val="B8A0A0"/>
                </a:solidFill>
                <a:latin typeface="Calibri"/>
                <a:ea typeface="Calibri"/>
                <a:cs typeface="Calibri"/>
                <a:sym typeface="Calibri"/>
              </a:rPr>
              <a:t>Prepared by: </a:t>
            </a:r>
            <a:r>
              <a:rPr lang="en-US" sz="1100">
                <a:solidFill>
                  <a:srgbClr val="B8A0A0"/>
                </a:solidFill>
                <a:latin typeface="Calibri"/>
                <a:ea typeface="Calibri"/>
                <a:cs typeface="Calibri"/>
                <a:sym typeface="Calibri"/>
              </a:rPr>
              <a:t>Junior Data Analyst –Iktedar Ahmed, Bellabeat Marketing Team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0E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749040" y="4864608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4A4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4A4A"/>
                </a:solidFill>
                <a:latin typeface="Calibri"/>
                <a:ea typeface="Calibri"/>
                <a:cs typeface="Calibri"/>
                <a:sym typeface="Calibri"/>
              </a:rPr>
              <a:t>Confidential — Bellabeat Marketing Analytics · 2026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VY Wellness Coach - Apps on Google Play" id="24" name="Google Shape;2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019" y="287385"/>
            <a:ext cx="459377" cy="459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3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A907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5760" y="1188720"/>
            <a:ext cx="265176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5760" y="1188720"/>
            <a:ext cx="64008" cy="1554480"/>
          </a:xfrm>
          <a:prstGeom prst="rect">
            <a:avLst/>
          </a:prstGeom>
          <a:solidFill>
            <a:srgbClr val="FA907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02920" y="128016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9076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FA9076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1800">
              <a:solidFill>
                <a:srgbClr val="FA90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02920" y="1664208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Business Task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02920" y="2011680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What are we solving and why it matters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200400" y="1188720"/>
            <a:ext cx="265176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200400" y="1188720"/>
            <a:ext cx="64008" cy="1554480"/>
          </a:xfrm>
          <a:prstGeom prst="rect">
            <a:avLst/>
          </a:prstGeom>
          <a:solidFill>
            <a:srgbClr val="FA907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3337560" y="128016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9076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FA9076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1800">
              <a:solidFill>
                <a:srgbClr val="FA90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3337560" y="1664208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Data Overview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337560" y="2011680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Source, scope, and preparation methodology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035040" y="1188720"/>
            <a:ext cx="265176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035040" y="1188720"/>
            <a:ext cx="64008" cy="1554480"/>
          </a:xfrm>
          <a:prstGeom prst="rect">
            <a:avLst/>
          </a:prstGeom>
          <a:solidFill>
            <a:srgbClr val="FA907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172200" y="128016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9076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FA9076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1800">
              <a:solidFill>
                <a:srgbClr val="FA90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172200" y="1664208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172200" y="2011680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Activity, sleep, calories, intensity patterns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914400" y="3200400"/>
            <a:ext cx="347472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914400" y="3200400"/>
            <a:ext cx="64008" cy="1554480"/>
          </a:xfrm>
          <a:prstGeom prst="rect">
            <a:avLst/>
          </a:prstGeom>
          <a:solidFill>
            <a:srgbClr val="FA907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051560" y="329184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9076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FA9076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sz="1800">
              <a:solidFill>
                <a:srgbClr val="FA90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051560" y="367588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Correlations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051560" y="4023360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How metrics relate to each other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572000" y="3200400"/>
            <a:ext cx="347472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572000" y="3200400"/>
            <a:ext cx="64008" cy="1554480"/>
          </a:xfrm>
          <a:prstGeom prst="rect">
            <a:avLst/>
          </a:prstGeom>
          <a:solidFill>
            <a:srgbClr val="FA907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4709160" y="329184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9076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FA9076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sz="1800">
              <a:solidFill>
                <a:srgbClr val="FA90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709160" y="367588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709160" y="4023360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Marketing strategy actions for Bellabeat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3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A907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Business Task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365760" y="1188720"/>
            <a:ext cx="411480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365760" y="1188720"/>
            <a:ext cx="4114800" cy="411480"/>
          </a:xfrm>
          <a:prstGeom prst="rect">
            <a:avLst/>
          </a:prstGeom>
          <a:solidFill>
            <a:srgbClr val="FA907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02920" y="121615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Challenge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02920" y="1691640"/>
            <a:ext cx="384048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Bellabeat is a fast-growing wellness tech company for women. To compete in the global smart device market, the executive team needs data-driven insights into how consumers use smart fitness devices.</a:t>
            </a:r>
            <a:br>
              <a:rPr lang="en-US" sz="12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2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The goal is to analyze FitBit user data to identify behavioral trends that can inform and strengthen Bellabeat's marketing strategy.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846320" y="1188720"/>
            <a:ext cx="393192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983480" y="1371600"/>
            <a:ext cx="502920" cy="502920"/>
          </a:xfrm>
          <a:prstGeom prst="ellipse">
            <a:avLst/>
          </a:prstGeom>
          <a:solidFill>
            <a:srgbClr val="FA907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983480" y="1389888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5577840" y="137160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What are the trends in smart device usage?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846320" y="2423160"/>
            <a:ext cx="393192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983480" y="2606040"/>
            <a:ext cx="502920" cy="502920"/>
          </a:xfrm>
          <a:prstGeom prst="ellipse">
            <a:avLst/>
          </a:prstGeom>
          <a:solidFill>
            <a:srgbClr val="FA907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983480" y="2624328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5577840" y="260604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How do these trends apply to Bellabeat customers?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846320" y="3657600"/>
            <a:ext cx="393192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983480" y="3840480"/>
            <a:ext cx="502920" cy="502920"/>
          </a:xfrm>
          <a:prstGeom prst="ellipse">
            <a:avLst/>
          </a:prstGeom>
          <a:solidFill>
            <a:srgbClr val="FA907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983480" y="3858768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577840" y="384048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How can these trends inform marketing strategy?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0" y="3768628"/>
            <a:ext cx="3931920" cy="777240"/>
          </a:xfrm>
          <a:prstGeom prst="rect">
            <a:avLst/>
          </a:prstGeom>
          <a:solidFill>
            <a:srgbClr val="FFF0EE"/>
          </a:solidFill>
          <a:ln cap="flat" cmpd="sng" w="12700">
            <a:solidFill>
              <a:srgbClr val="E870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137160" y="3860068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524E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A0524E"/>
                </a:solidFill>
                <a:latin typeface="Calibri"/>
                <a:ea typeface="Calibri"/>
                <a:cs typeface="Calibri"/>
                <a:sym typeface="Calibri"/>
              </a:rPr>
              <a:t>Focus Product: </a:t>
            </a:r>
            <a:r>
              <a:rPr b="1" i="1" lang="en-US" sz="1050">
                <a:solidFill>
                  <a:srgbClr val="A0524E"/>
                </a:solidFill>
                <a:latin typeface="Calibri"/>
                <a:ea typeface="Calibri"/>
                <a:cs typeface="Calibri"/>
                <a:sym typeface="Calibri"/>
              </a:rPr>
              <a:t>Bellabeat Leaf </a:t>
            </a:r>
            <a:r>
              <a:rPr i="1" lang="en-US" sz="1050">
                <a:solidFill>
                  <a:srgbClr val="A0524E"/>
                </a:solidFill>
                <a:latin typeface="Calibri"/>
                <a:ea typeface="Calibri"/>
                <a:cs typeface="Calibri"/>
                <a:sym typeface="Calibri"/>
              </a:rPr>
              <a:t>— the classic wellness tracker worn as bracelet, necklace, or clip.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3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A907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Overview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365760" y="1143000"/>
            <a:ext cx="1920240" cy="914400"/>
          </a:xfrm>
          <a:prstGeom prst="rect">
            <a:avLst/>
          </a:prstGeom>
          <a:solidFill>
            <a:srgbClr val="FA9076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365760" y="1207008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35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365760" y="166420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DAD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ADADD"/>
                </a:solidFill>
                <a:latin typeface="Calibri"/>
                <a:ea typeface="Calibri"/>
                <a:cs typeface="Calibri"/>
                <a:sym typeface="Calibri"/>
              </a:rPr>
              <a:t>Users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2468880" y="1143000"/>
            <a:ext cx="1920240" cy="914400"/>
          </a:xfrm>
          <a:prstGeom prst="rect">
            <a:avLst/>
          </a:prstGeom>
          <a:solidFill>
            <a:srgbClr val="FA9076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2468880" y="1207008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1,388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2468880" y="166420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DAD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ADADD"/>
                </a:solidFill>
                <a:latin typeface="Calibri"/>
                <a:ea typeface="Calibri"/>
                <a:cs typeface="Calibri"/>
                <a:sym typeface="Calibri"/>
              </a:rPr>
              <a:t>Records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4572000" y="1143000"/>
            <a:ext cx="1920240" cy="914400"/>
          </a:xfrm>
          <a:prstGeom prst="rect">
            <a:avLst/>
          </a:prstGeom>
          <a:solidFill>
            <a:srgbClr val="FA9076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572000" y="1207008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4572000" y="166420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DAD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ADADD"/>
                </a:solidFill>
                <a:latin typeface="Calibri"/>
                <a:ea typeface="Calibri"/>
                <a:cs typeface="Calibri"/>
                <a:sym typeface="Calibri"/>
              </a:rPr>
              <a:t>Months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6675120" y="1143000"/>
            <a:ext cx="1920240" cy="914400"/>
          </a:xfrm>
          <a:prstGeom prst="rect">
            <a:avLst/>
          </a:prstGeom>
          <a:solidFill>
            <a:srgbClr val="FA9076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6675120" y="1207008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6675120" y="166420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DAD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ADADD"/>
                </a:solidFill>
                <a:latin typeface="Calibri"/>
                <a:ea typeface="Calibri"/>
                <a:cs typeface="Calibri"/>
                <a:sym typeface="Calibri"/>
              </a:rPr>
              <a:t>CSV Files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365760" y="2286000"/>
            <a:ext cx="411480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365760" y="2286000"/>
            <a:ext cx="4114800" cy="384048"/>
          </a:xfrm>
          <a:prstGeom prst="rect">
            <a:avLst/>
          </a:prstGeom>
          <a:solidFill>
            <a:srgbClr val="2D1A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502920" y="230428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📂  Data Sources Used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502920" y="2788920"/>
            <a:ext cx="38404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dailyActivity_merged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Mar 12 – Apr 11, 2016  (FitBit export)</a:t>
            </a:r>
            <a:br>
              <a:rPr lang="en-US" sz="11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dailyActivity_merged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Apr 12 – May 11, 2016  (FitBit export)</a:t>
            </a:r>
            <a:br>
              <a:rPr lang="en-US" sz="11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sleepDay_merged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Apr 12 – May 11, 2016  (FitBit export)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4754880" y="2286000"/>
            <a:ext cx="402336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754880" y="2286000"/>
            <a:ext cx="4023360" cy="384048"/>
          </a:xfrm>
          <a:prstGeom prst="rect">
            <a:avLst/>
          </a:prstGeom>
          <a:solidFill>
            <a:srgbClr val="2D1A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892040" y="230428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🧹  Data Preparation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892040" y="2788920"/>
            <a:ext cx="37490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Tool: </a:t>
            </a:r>
            <a:r>
              <a:rPr lang="en-US" sz="11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Google Sheets</a:t>
            </a:r>
            <a:br>
              <a:rPr lang="en-US" sz="11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5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✔  </a:t>
            </a:r>
            <a:r>
              <a:rPr lang="en-US" sz="11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Merged all three files into one dataset</a:t>
            </a:r>
            <a:br>
              <a:rPr lang="en-US" sz="11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5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✔  </a:t>
            </a:r>
            <a:r>
              <a:rPr lang="en-US" sz="11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Removed 3 duplicate rows</a:t>
            </a:r>
            <a:br>
              <a:rPr lang="en-US" sz="11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5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✔  </a:t>
            </a:r>
            <a:r>
              <a:rPr lang="en-US" sz="11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Removed 9 rows with zero-calorie records</a:t>
            </a:r>
            <a:br>
              <a:rPr lang="en-US" sz="11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5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✔  </a:t>
            </a:r>
            <a:r>
              <a:rPr lang="en-US" sz="11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Validated: data types, ranges, regex, cross-field etc.</a:t>
            </a:r>
            <a:br>
              <a:rPr lang="en-US" sz="11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5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✔  </a:t>
            </a:r>
            <a:r>
              <a:rPr lang="en-US" sz="11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Final: 1,388 clean records across 35 users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3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A907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A90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Activity Overview — Key Averages Per Day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365760" y="1097279"/>
            <a:ext cx="1920240" cy="1841863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365760" y="1097280"/>
            <a:ext cx="1920240" cy="64008"/>
          </a:xfrm>
          <a:prstGeom prst="rect">
            <a:avLst/>
          </a:prstGeom>
          <a:solidFill>
            <a:srgbClr val="FA907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A90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365760" y="1606731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9076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FA9076"/>
                </a:solidFill>
                <a:latin typeface="Georgia"/>
                <a:ea typeface="Georgia"/>
                <a:cs typeface="Georgia"/>
                <a:sym typeface="Georgia"/>
              </a:rPr>
              <a:t>7,328</a:t>
            </a:r>
            <a:endParaRPr sz="3000">
              <a:solidFill>
                <a:srgbClr val="FA90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365760" y="2155371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steps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365760" y="2402259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Avg. Daily Steps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2468880" y="1097280"/>
            <a:ext cx="1920240" cy="184186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2468880" y="1097280"/>
            <a:ext cx="1920240" cy="64008"/>
          </a:xfrm>
          <a:prstGeom prst="rect">
            <a:avLst/>
          </a:prstGeom>
          <a:solidFill>
            <a:srgbClr val="FA907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A90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2468880" y="1606731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9076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FA9076"/>
                </a:solidFill>
                <a:latin typeface="Georgia"/>
                <a:ea typeface="Georgia"/>
                <a:cs typeface="Georgia"/>
                <a:sym typeface="Georgia"/>
              </a:rPr>
              <a:t>2,281</a:t>
            </a:r>
            <a:endParaRPr sz="3000">
              <a:solidFill>
                <a:srgbClr val="FA90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2468880" y="2155371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kcal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2468880" y="2402259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Avg. Daily Calories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4572000" y="1097280"/>
            <a:ext cx="1920240" cy="184186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4572000" y="1097280"/>
            <a:ext cx="1920240" cy="64008"/>
          </a:xfrm>
          <a:prstGeom prst="rect">
            <a:avLst/>
          </a:prstGeom>
          <a:solidFill>
            <a:srgbClr val="FA907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A90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572000" y="1606731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9076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FA9076"/>
                </a:solidFill>
                <a:latin typeface="Georgia"/>
                <a:ea typeface="Georgia"/>
                <a:cs typeface="Georgia"/>
                <a:sym typeface="Georgia"/>
              </a:rPr>
              <a:t>5.25</a:t>
            </a:r>
            <a:endParaRPr sz="3000">
              <a:solidFill>
                <a:srgbClr val="FA90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4572000" y="2155371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miles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572000" y="2402259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Avg. Daily Distance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6675120" y="1097280"/>
            <a:ext cx="1920240" cy="184186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6675120" y="1097280"/>
            <a:ext cx="1920240" cy="64008"/>
          </a:xfrm>
          <a:prstGeom prst="rect">
            <a:avLst/>
          </a:prstGeom>
          <a:solidFill>
            <a:srgbClr val="FA907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A90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6675120" y="1606731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9076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FA9076"/>
                </a:solidFill>
                <a:latin typeface="Georgia"/>
                <a:ea typeface="Georgia"/>
                <a:cs typeface="Georgia"/>
                <a:sym typeface="Georgia"/>
              </a:rPr>
              <a:t>6.99</a:t>
            </a:r>
            <a:endParaRPr sz="3000">
              <a:solidFill>
                <a:srgbClr val="FA90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6675120" y="2155371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6675120" y="2402259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Avg. Daily Sleep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2055" y="1316135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05175" y="1292134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08295" y="1280433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11415" y="1298665"/>
            <a:ext cx="2476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3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065904"/>
            <a:ext cx="4235818" cy="2986156"/>
          </a:xfrm>
          <a:prstGeom prst="rect">
            <a:avLst/>
          </a:prstGeom>
          <a:noFill/>
          <a:ln cap="flat" cmpd="sng" w="9525">
            <a:solidFill>
              <a:srgbClr val="FBE4D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6" name="Google Shape;146;p8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A907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Activity — Patterns &amp; Distribution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365760" y="1097280"/>
            <a:ext cx="1920240" cy="822960"/>
          </a:xfrm>
          <a:prstGeom prst="rect">
            <a:avLst/>
          </a:prstGeom>
          <a:solidFill>
            <a:srgbClr val="FA9076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365760" y="11430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7,328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365760" y="155448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DAD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ADADD"/>
                </a:solidFill>
                <a:latin typeface="Calibri"/>
                <a:ea typeface="Calibri"/>
                <a:cs typeface="Calibri"/>
                <a:sym typeface="Calibri"/>
              </a:rPr>
              <a:t>Avg Steps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2468880" y="1097280"/>
            <a:ext cx="192024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2468880" y="11430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9076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FA9076"/>
                </a:solidFill>
                <a:latin typeface="Georgia"/>
                <a:ea typeface="Georgia"/>
                <a:cs typeface="Georgia"/>
                <a:sym typeface="Georgia"/>
              </a:rPr>
              <a:t>7,055</a:t>
            </a:r>
            <a:endParaRPr sz="2000">
              <a:solidFill>
                <a:srgbClr val="FA90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2468880" y="155448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Median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572000" y="1097280"/>
            <a:ext cx="192024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4572000" y="11430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9076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FA9076"/>
                </a:solidFill>
                <a:latin typeface="Georgia"/>
                <a:ea typeface="Georgia"/>
                <a:cs typeface="Georgia"/>
                <a:sym typeface="Georgia"/>
              </a:rPr>
              <a:t>36,019</a:t>
            </a:r>
            <a:endParaRPr sz="2000">
              <a:solidFill>
                <a:srgbClr val="FA90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4572000" y="155448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Max Steps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6675120" y="1097280"/>
            <a:ext cx="192024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6675120" y="11430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9076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FA9076"/>
                </a:solidFill>
                <a:latin typeface="Georgia"/>
                <a:ea typeface="Georgia"/>
                <a:cs typeface="Georgia"/>
                <a:sym typeface="Georgia"/>
              </a:rPr>
              <a:t>10.17M</a:t>
            </a:r>
            <a:endParaRPr sz="2000">
              <a:solidFill>
                <a:srgbClr val="FA90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6675120" y="155448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0" y="3376744"/>
            <a:ext cx="3729445" cy="715196"/>
          </a:xfrm>
          <a:prstGeom prst="rect">
            <a:avLst/>
          </a:prstGeom>
          <a:solidFill>
            <a:srgbClr val="FFF0EE"/>
          </a:solidFill>
          <a:ln cap="flat" cmpd="sng" w="12700">
            <a:solidFill>
              <a:srgbClr val="E870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91441" y="3422464"/>
            <a:ext cx="3533158" cy="58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524E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A0524E"/>
                </a:solidFill>
                <a:latin typeface="Calibri"/>
                <a:ea typeface="Calibri"/>
                <a:cs typeface="Calibri"/>
                <a:sym typeface="Calibri"/>
              </a:rPr>
              <a:t>💡  Avg steps (7,328) fall below the recommended 10,000/day goal — engagement opportunity!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2636" y="2065904"/>
            <a:ext cx="4219151" cy="2981584"/>
          </a:xfrm>
          <a:prstGeom prst="rect">
            <a:avLst/>
          </a:prstGeom>
          <a:noFill/>
          <a:ln cap="flat" cmpd="sng" w="9525">
            <a:solidFill>
              <a:srgbClr val="FBE4D4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3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A907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Calories Burned &amp; Distance Covered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274320" y="4069080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Calories Analysis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4754880" y="406908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Distance Analysis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0" y="4370832"/>
            <a:ext cx="9144000" cy="772668"/>
          </a:xfrm>
          <a:prstGeom prst="rect">
            <a:avLst/>
          </a:prstGeom>
          <a:solidFill>
            <a:srgbClr val="FBA28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97970" y="4434840"/>
            <a:ext cx="4474029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833C0B"/>
                </a:solidFill>
                <a:latin typeface="Calibri"/>
                <a:ea typeface="Calibri"/>
                <a:cs typeface="Calibri"/>
                <a:sym typeface="Calibri"/>
              </a:rPr>
              <a:t>Calories:  </a:t>
            </a:r>
            <a:r>
              <a:rPr lang="en-US" sz="1100">
                <a:solidFill>
                  <a:srgbClr val="833C0B"/>
                </a:solidFill>
                <a:latin typeface="Calibri"/>
                <a:ea typeface="Calibri"/>
                <a:cs typeface="Calibri"/>
                <a:sym typeface="Calibri"/>
              </a:rPr>
              <a:t>Most users burn </a:t>
            </a:r>
            <a:r>
              <a:rPr lang="en-US" sz="1100">
                <a:solidFill>
                  <a:srgbClr val="833C0B"/>
                </a:solidFill>
                <a:highlight>
                  <a:srgbClr val="F98063"/>
                </a:highlight>
                <a:latin typeface="Calibri"/>
                <a:ea typeface="Calibri"/>
                <a:cs typeface="Calibri"/>
                <a:sym typeface="Calibri"/>
              </a:rPr>
              <a:t>1,800–2,500</a:t>
            </a:r>
            <a:r>
              <a:rPr lang="en-US" sz="1100">
                <a:solidFill>
                  <a:srgbClr val="833C0B"/>
                </a:solidFill>
                <a:latin typeface="Calibri"/>
                <a:ea typeface="Calibri"/>
                <a:cs typeface="Calibri"/>
                <a:sym typeface="Calibri"/>
              </a:rPr>
              <a:t> kcal/day · Peak day: </a:t>
            </a:r>
            <a:r>
              <a:rPr lang="en-US" sz="1100">
                <a:solidFill>
                  <a:srgbClr val="833C0B"/>
                </a:solidFill>
                <a:highlight>
                  <a:srgbClr val="F98063"/>
                </a:highlight>
                <a:latin typeface="Calibri"/>
                <a:ea typeface="Calibri"/>
                <a:cs typeface="Calibri"/>
                <a:sym typeface="Calibri"/>
              </a:rPr>
              <a:t>Saturday</a:t>
            </a:r>
            <a:endParaRPr sz="1100">
              <a:solidFill>
                <a:srgbClr val="833C0B"/>
              </a:solidFill>
              <a:highlight>
                <a:srgbClr val="F98063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78" y="1096738"/>
            <a:ext cx="4293980" cy="2918784"/>
          </a:xfrm>
          <a:prstGeom prst="rect">
            <a:avLst/>
          </a:prstGeom>
          <a:noFill/>
          <a:ln cap="flat" cmpd="sng" w="9525">
            <a:solidFill>
              <a:srgbClr val="F7CAA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5" name="Google Shape;17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2796" y="1096739"/>
            <a:ext cx="4301380" cy="2920300"/>
          </a:xfrm>
          <a:prstGeom prst="rect">
            <a:avLst/>
          </a:prstGeom>
          <a:noFill/>
          <a:ln cap="flat" cmpd="sng" w="9525">
            <a:solidFill>
              <a:srgbClr val="F7CAA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6" name="Google Shape;176;p9"/>
          <p:cNvSpPr/>
          <p:nvPr/>
        </p:nvSpPr>
        <p:spPr>
          <a:xfrm>
            <a:off x="4571998" y="4437844"/>
            <a:ext cx="4474031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833C0B"/>
                </a:solidFill>
                <a:latin typeface="Calibri"/>
                <a:ea typeface="Calibri"/>
                <a:cs typeface="Calibri"/>
                <a:sym typeface="Calibri"/>
              </a:rPr>
              <a:t>Distance:  </a:t>
            </a:r>
            <a:r>
              <a:rPr lang="en-US" sz="1100">
                <a:solidFill>
                  <a:srgbClr val="833C0B"/>
                </a:solidFill>
                <a:latin typeface="Calibri"/>
                <a:ea typeface="Calibri"/>
                <a:cs typeface="Calibri"/>
                <a:sym typeface="Calibri"/>
              </a:rPr>
              <a:t>Majority covers </a:t>
            </a:r>
            <a:r>
              <a:rPr lang="en-US" sz="1100">
                <a:solidFill>
                  <a:srgbClr val="833C0B"/>
                </a:solidFill>
                <a:highlight>
                  <a:srgbClr val="F98063"/>
                </a:highlight>
                <a:latin typeface="Calibri"/>
                <a:ea typeface="Calibri"/>
                <a:cs typeface="Calibri"/>
                <a:sym typeface="Calibri"/>
              </a:rPr>
              <a:t>6+ miles daily </a:t>
            </a:r>
            <a:r>
              <a:rPr lang="en-US" sz="1100">
                <a:solidFill>
                  <a:srgbClr val="833C0B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lang="en-US" sz="1100">
                <a:solidFill>
                  <a:srgbClr val="833C0B"/>
                </a:solidFill>
                <a:highlight>
                  <a:srgbClr val="F98063"/>
                </a:highlight>
                <a:latin typeface="Calibri"/>
                <a:ea typeface="Calibri"/>
                <a:cs typeface="Calibri"/>
                <a:sym typeface="Calibri"/>
              </a:rPr>
              <a:t>Light Active Distance </a:t>
            </a:r>
            <a:r>
              <a:rPr lang="en-US" sz="1100">
                <a:solidFill>
                  <a:srgbClr val="833C0B"/>
                </a:solidFill>
                <a:latin typeface="Calibri"/>
                <a:ea typeface="Calibri"/>
                <a:cs typeface="Calibri"/>
                <a:sym typeface="Calibri"/>
              </a:rPr>
              <a:t>(4,461 mi) dominates over Very Active (1,952 mi)</a:t>
            </a:r>
            <a:endParaRPr sz="1100">
              <a:solidFill>
                <a:srgbClr val="833C0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3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A907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Activity Duration &amp; Intensity Breakdown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274320" y="1097280"/>
            <a:ext cx="1920240" cy="576072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F98063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274320" y="112471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C00000"/>
                </a:solidFill>
                <a:latin typeface="Georgia"/>
                <a:ea typeface="Georgia"/>
                <a:cs typeface="Georgia"/>
                <a:sym typeface="Georgia"/>
              </a:rPr>
              <a:t>16.49 hrs</a:t>
            </a:r>
            <a:endParaRPr sz="1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274320" y="1389888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Sedentary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274320" y="1810512"/>
            <a:ext cx="1920240" cy="576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706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274320" y="1837944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06A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E8706A"/>
                </a:solidFill>
                <a:latin typeface="Georgia"/>
                <a:ea typeface="Georgia"/>
                <a:cs typeface="Georgia"/>
                <a:sym typeface="Georgia"/>
              </a:rPr>
              <a:t>3.11 hrs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274320" y="210312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Lightly Active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274320" y="2523744"/>
            <a:ext cx="1920240" cy="576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274320" y="2551176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0.33 hrs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274320" y="2816352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Very Active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274320" y="3236976"/>
            <a:ext cx="1920240" cy="576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524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274320" y="326440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524E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A0524E"/>
                </a:solidFill>
                <a:latin typeface="Georgia"/>
                <a:ea typeface="Georgia"/>
                <a:cs typeface="Georgia"/>
                <a:sym typeface="Georgia"/>
              </a:rPr>
              <a:t>0.22 hrs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274320" y="3529584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Moderate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6040" y="1097280"/>
            <a:ext cx="6267558" cy="3794760"/>
          </a:xfrm>
          <a:prstGeom prst="rect">
            <a:avLst/>
          </a:prstGeom>
          <a:solidFill>
            <a:srgbClr val="FBA28D"/>
          </a:solidFill>
          <a:ln cap="flat" cmpd="sng" w="9525">
            <a:solidFill>
              <a:srgbClr val="F7CAA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7" name="Google Shape;197;p10"/>
          <p:cNvSpPr/>
          <p:nvPr/>
        </p:nvSpPr>
        <p:spPr>
          <a:xfrm>
            <a:off x="2606041" y="4892040"/>
            <a:ext cx="626755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i="1" lang="en-US" sz="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Tableau Dashboard — Duration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3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263" y="2057400"/>
            <a:ext cx="3918857" cy="1873195"/>
          </a:xfrm>
          <a:prstGeom prst="rect">
            <a:avLst/>
          </a:prstGeom>
          <a:noFill/>
          <a:ln cap="flat" cmpd="sng" w="9525">
            <a:solidFill>
              <a:srgbClr val="F7CAA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4" name="Google Shape;204;p1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A907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Sleep Patterns &amp; Quality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470263" y="1097280"/>
            <a:ext cx="192024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470263" y="11430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9076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FA9076"/>
                </a:solidFill>
                <a:latin typeface="Georgia"/>
                <a:ea typeface="Georgia"/>
                <a:cs typeface="Georgia"/>
                <a:sym typeface="Georgia"/>
              </a:rPr>
              <a:t>7 hrs</a:t>
            </a:r>
            <a:endParaRPr sz="2200">
              <a:solidFill>
                <a:srgbClr val="FA90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470263" y="155448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Avg Sleep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2573383" y="1097280"/>
            <a:ext cx="192024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2573383" y="11430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9076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FA9076"/>
                </a:solidFill>
                <a:latin typeface="Georgia"/>
                <a:ea typeface="Georgia"/>
                <a:cs typeface="Georgia"/>
                <a:sym typeface="Georgia"/>
              </a:rPr>
              <a:t>7 hrs</a:t>
            </a:r>
            <a:endParaRPr sz="2200">
              <a:solidFill>
                <a:srgbClr val="FA90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2573383" y="155448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Median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4676503" y="1097280"/>
            <a:ext cx="192024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4676503" y="11430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9076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FA9076"/>
                </a:solidFill>
                <a:latin typeface="Georgia"/>
                <a:ea typeface="Georgia"/>
                <a:cs typeface="Georgia"/>
                <a:sym typeface="Georgia"/>
              </a:rPr>
              <a:t>13 hrs</a:t>
            </a:r>
            <a:endParaRPr sz="2200">
              <a:solidFill>
                <a:srgbClr val="FA90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4676503" y="155448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Max Sleep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6779623" y="1097280"/>
            <a:ext cx="1920240" cy="822960"/>
          </a:xfrm>
          <a:prstGeom prst="rect">
            <a:avLst/>
          </a:prstGeom>
          <a:solidFill>
            <a:srgbClr val="FFF0EE"/>
          </a:solidFill>
          <a:ln cap="flat" cmpd="sng" w="12700">
            <a:solidFill>
              <a:srgbClr val="E8706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6779623" y="11430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9076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FA9076"/>
                </a:solidFill>
                <a:latin typeface="Georgia"/>
                <a:ea typeface="Georgia"/>
                <a:cs typeface="Georgia"/>
                <a:sym typeface="Georgia"/>
              </a:rPr>
              <a:t>30.3%</a:t>
            </a:r>
            <a:endParaRPr sz="2200">
              <a:solidFill>
                <a:srgbClr val="FA90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6779623" y="155448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Tracked Sleep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0" y="4069061"/>
            <a:ext cx="3749040" cy="502920"/>
          </a:xfrm>
          <a:prstGeom prst="rect">
            <a:avLst/>
          </a:prstGeom>
          <a:solidFill>
            <a:srgbClr val="FFF0EE"/>
          </a:solidFill>
          <a:ln cap="flat" cmpd="sng" w="12700">
            <a:solidFill>
              <a:srgbClr val="E870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91440" y="4114781"/>
            <a:ext cx="35615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524E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A0524E"/>
                </a:solidFill>
                <a:latin typeface="Calibri"/>
                <a:ea typeface="Calibri"/>
                <a:cs typeface="Calibri"/>
                <a:sym typeface="Calibri"/>
              </a:rPr>
              <a:t>⚠️  Only </a:t>
            </a:r>
            <a:r>
              <a:rPr b="1" i="1" lang="en-US" sz="950">
                <a:solidFill>
                  <a:srgbClr val="A0524E"/>
                </a:solidFill>
                <a:latin typeface="Calibri"/>
                <a:ea typeface="Calibri"/>
                <a:cs typeface="Calibri"/>
                <a:sym typeface="Calibri"/>
              </a:rPr>
              <a:t>30.3% </a:t>
            </a:r>
            <a:r>
              <a:rPr i="1" lang="en-US" sz="950">
                <a:solidFill>
                  <a:srgbClr val="A0524E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1" lang="en-US" sz="950">
                <a:solidFill>
                  <a:srgbClr val="A0524E"/>
                </a:solidFill>
                <a:latin typeface="Calibri"/>
                <a:ea typeface="Calibri"/>
                <a:cs typeface="Calibri"/>
                <a:sym typeface="Calibri"/>
              </a:rPr>
              <a:t>421</a:t>
            </a:r>
            <a:r>
              <a:rPr i="1" lang="en-US" sz="950">
                <a:solidFill>
                  <a:srgbClr val="A0524E"/>
                </a:solidFill>
                <a:latin typeface="Calibri"/>
                <a:ea typeface="Calibri"/>
                <a:cs typeface="Calibri"/>
                <a:sym typeface="Calibri"/>
              </a:rPr>
              <a:t> out of </a:t>
            </a:r>
            <a:r>
              <a:rPr b="1" i="1" lang="en-US" sz="950">
                <a:solidFill>
                  <a:srgbClr val="A0524E"/>
                </a:solidFill>
                <a:latin typeface="Calibri"/>
                <a:ea typeface="Calibri"/>
                <a:cs typeface="Calibri"/>
                <a:sym typeface="Calibri"/>
              </a:rPr>
              <a:t>1388</a:t>
            </a:r>
            <a:r>
              <a:rPr i="1" lang="en-US" sz="950">
                <a:solidFill>
                  <a:srgbClr val="A0524E"/>
                </a:solidFill>
                <a:latin typeface="Calibri"/>
                <a:ea typeface="Calibri"/>
                <a:cs typeface="Calibri"/>
                <a:sym typeface="Calibri"/>
              </a:rPr>
              <a:t>) of records include sleep data — a major tracking gap to address.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11"/>
          <p:cNvPicPr preferRelativeResize="0"/>
          <p:nvPr/>
        </p:nvPicPr>
        <p:blipFill rotWithShape="1">
          <a:blip r:embed="rId4">
            <a:alphaModFix/>
          </a:blip>
          <a:srcRect b="0" l="0" r="0" t="889"/>
          <a:stretch/>
        </p:blipFill>
        <p:spPr>
          <a:xfrm>
            <a:off x="4528293" y="2057400"/>
            <a:ext cx="4171570" cy="2748137"/>
          </a:xfrm>
          <a:prstGeom prst="rect">
            <a:avLst/>
          </a:prstGeom>
          <a:noFill/>
          <a:ln cap="flat" cmpd="sng" w="9525">
            <a:solidFill>
              <a:srgbClr val="F7CAAC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3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A907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Correlations Between Metrics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2322306" y="4813663"/>
            <a:ext cx="6716819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i="1" lang="en-US" sz="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Tableau Dashboard — Correlations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274320" y="2553789"/>
            <a:ext cx="192024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274320" y="2581221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r = 0.99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274320" y="2818965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Steps ↔ Distance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274320" y="2983557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Nearly perfect correlation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274320" y="1801368"/>
            <a:ext cx="192024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274320" y="182880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2E7D32"/>
                </a:solidFill>
                <a:latin typeface="Georgia"/>
                <a:ea typeface="Georgia"/>
                <a:cs typeface="Georgia"/>
                <a:sym typeface="Georgia"/>
              </a:rPr>
              <a:t>r = 0.63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274320" y="2066544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Distance ↔ Calories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274320" y="2231136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Strong positive link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274320" y="1051560"/>
            <a:ext cx="192024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706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274320" y="107899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06A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E8706A"/>
                </a:solidFill>
                <a:latin typeface="Georgia"/>
                <a:ea typeface="Georgia"/>
                <a:cs typeface="Georgia"/>
                <a:sym typeface="Georgia"/>
              </a:rPr>
              <a:t>r = 0.58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274320" y="1316736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Steps ↔ Calories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274320" y="1481328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Moderate positive link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274320" y="3303597"/>
            <a:ext cx="192024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524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274320" y="3331029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524E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A0524E"/>
                </a:solidFill>
                <a:latin typeface="Georgia"/>
                <a:ea typeface="Georgia"/>
                <a:cs typeface="Georgia"/>
                <a:sym typeface="Georgia"/>
              </a:rPr>
              <a:t>r = −0.54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274320" y="3568773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Sedentary ↔ Sleep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274320" y="3733365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More sitting = less sleep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2306" y="1051560"/>
            <a:ext cx="6695729" cy="3762103"/>
          </a:xfrm>
          <a:prstGeom prst="rect">
            <a:avLst/>
          </a:prstGeom>
          <a:noFill/>
          <a:ln cap="flat" cmpd="sng" w="9525">
            <a:solidFill>
              <a:srgbClr val="F7CAA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6" name="Google Shape;246;p12"/>
          <p:cNvSpPr/>
          <p:nvPr/>
        </p:nvSpPr>
        <p:spPr>
          <a:xfrm>
            <a:off x="6302829" y="2963964"/>
            <a:ext cx="2606040" cy="1738666"/>
          </a:xfrm>
          <a:prstGeom prst="roundRect">
            <a:avLst>
              <a:gd fmla="val 9154" name="adj"/>
            </a:avLst>
          </a:prstGeom>
          <a:noFill/>
          <a:ln cap="flat" cmpd="sng" w="28575">
            <a:solidFill>
              <a:srgbClr val="E870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0" y="4127841"/>
            <a:ext cx="3749040" cy="502920"/>
          </a:xfrm>
          <a:prstGeom prst="rect">
            <a:avLst/>
          </a:prstGeom>
          <a:solidFill>
            <a:srgbClr val="FFF0EE"/>
          </a:solidFill>
          <a:ln cap="flat" cmpd="sng" w="12700">
            <a:solidFill>
              <a:srgbClr val="E870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91440" y="4173561"/>
            <a:ext cx="35615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524E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A0524E"/>
                </a:solidFill>
                <a:latin typeface="Calibri"/>
                <a:ea typeface="Calibri"/>
                <a:cs typeface="Calibri"/>
                <a:sym typeface="Calibri"/>
              </a:rPr>
              <a:t>There's a negative link (r=−0.54) between sitting and sleep quality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3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A907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Marketing </a:t>
            </a:r>
            <a:r>
              <a:rPr b="1" lang="en-US" sz="3000">
                <a:solidFill>
                  <a:srgbClr val="FFFFFF"/>
                </a:solidFill>
                <a:highlight>
                  <a:srgbClr val="800000"/>
                </a:highlight>
                <a:latin typeface="Arial"/>
                <a:ea typeface="Arial"/>
                <a:cs typeface="Arial"/>
                <a:sym typeface="Arial"/>
              </a:rPr>
              <a:t>Recommendations</a:t>
            </a:r>
            <a:endParaRPr sz="3000">
              <a:solidFill>
                <a:schemeClr val="dk1"/>
              </a:solidFill>
              <a:highlight>
                <a:srgbClr val="8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365760" y="1143000"/>
            <a:ext cx="8412480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365760" y="1143000"/>
            <a:ext cx="73152" cy="1170432"/>
          </a:xfrm>
          <a:prstGeom prst="rect">
            <a:avLst/>
          </a:prstGeom>
          <a:solidFill>
            <a:srgbClr val="E8706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502920" y="1435608"/>
            <a:ext cx="457200" cy="457200"/>
          </a:xfrm>
          <a:prstGeom prst="ellipse">
            <a:avLst/>
          </a:prstGeom>
          <a:solidFill>
            <a:srgbClr val="E8706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502920" y="14356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1051560" y="1234440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Step Challenge Campaigns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1051560" y="1581912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Users average only 7,328 steps/day vs. the 10,000 recommended. Market the Leaf as a motivational coach through in-app step challenges, weekly goals, and push notifications. Partner with fitness influencers to drive the "10K challenge" social campaign.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365760" y="2404872"/>
            <a:ext cx="8412480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365760" y="2404872"/>
            <a:ext cx="73152" cy="11704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502920" y="269748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502920" y="26974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1051560" y="2496312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Sleep Tracking Feature Push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1051560" y="2843784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Only </a:t>
            </a:r>
            <a:r>
              <a:rPr b="1"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30.3% </a:t>
            </a: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of records capture sleep data, and ~</a:t>
            </a:r>
            <a:r>
              <a:rPr b="1"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44%</a:t>
            </a: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(185 out of 421 tracked sleep data) users sleep less than the recommended 7–9 hours. Promote sleep as a key differentiator for the Leaf tracker. Launch a 'Better Sleep' educational campaign with reminders and guided wind-down routines through the Bellabeat app.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365760" y="3666744"/>
            <a:ext cx="8412480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365760" y="3666744"/>
            <a:ext cx="73152" cy="1170432"/>
          </a:xfrm>
          <a:prstGeom prst="rect">
            <a:avLst/>
          </a:prstGeom>
          <a:solidFill>
            <a:srgbClr val="A0524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502920" y="3959352"/>
            <a:ext cx="457200" cy="457200"/>
          </a:xfrm>
          <a:prstGeom prst="ellipse">
            <a:avLst/>
          </a:prstGeom>
          <a:solidFill>
            <a:srgbClr val="A0524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502920" y="39593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1051560" y="3758184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Reduce Sedentary Time Messaging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1051560" y="4105656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Users spend ~</a:t>
            </a:r>
            <a:r>
              <a:rPr b="1"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16.5 hrs/day </a:t>
            </a: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sedentary on average, and there's a clear negative link (r=−0.54) between sitting and sleep quality. Position the Leaf as a sedentary-break reminder tool. Use Monday and Friday activity peaks to time push notifications and social ads for maximum engagement.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1A1A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4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FA907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4"/>
          <p:cNvSpPr/>
          <p:nvPr/>
        </p:nvSpPr>
        <p:spPr>
          <a:xfrm>
            <a:off x="-457200" y="3200400"/>
            <a:ext cx="2560320" cy="2560320"/>
          </a:xfrm>
          <a:prstGeom prst="ellipse">
            <a:avLst/>
          </a:prstGeom>
          <a:solidFill>
            <a:srgbClr val="F98063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4"/>
          <p:cNvSpPr/>
          <p:nvPr/>
        </p:nvSpPr>
        <p:spPr>
          <a:xfrm>
            <a:off x="274320" y="32004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4"/>
          <p:cNvSpPr/>
          <p:nvPr/>
        </p:nvSpPr>
        <p:spPr>
          <a:xfrm>
            <a:off x="3749040" y="1097280"/>
            <a:ext cx="5029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4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3749040" y="2286000"/>
            <a:ext cx="3200400" cy="36576"/>
          </a:xfrm>
          <a:prstGeom prst="rect">
            <a:avLst/>
          </a:prstGeom>
          <a:solidFill>
            <a:srgbClr val="FA907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3749040" y="242316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9076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A9076"/>
                </a:solidFill>
                <a:latin typeface="Calibri"/>
                <a:ea typeface="Calibri"/>
                <a:cs typeface="Calibri"/>
                <a:sym typeface="Calibri"/>
              </a:rPr>
              <a:t>Summary of Key Findings</a:t>
            </a:r>
            <a:endParaRPr sz="1400">
              <a:solidFill>
                <a:srgbClr val="FA90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3749040" y="2788920"/>
            <a:ext cx="5029200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9076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A907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b="1" lang="en-US" sz="1150">
                <a:solidFill>
                  <a:srgbClr val="E8706A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150">
                <a:solidFill>
                  <a:srgbClr val="E8C4C4"/>
                </a:solidFill>
                <a:latin typeface="Calibri"/>
                <a:ea typeface="Calibri"/>
                <a:cs typeface="Calibri"/>
                <a:sym typeface="Calibri"/>
              </a:rPr>
              <a:t>Users walk 7,328 steps/day avg — below 10k target</a:t>
            </a:r>
            <a:br>
              <a:rPr lang="en-US" sz="1150">
                <a:solidFill>
                  <a:srgbClr val="E8C4C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50">
                <a:solidFill>
                  <a:srgbClr val="FA907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b="1" lang="en-US" sz="1150">
                <a:solidFill>
                  <a:srgbClr val="E8706A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150">
                <a:solidFill>
                  <a:srgbClr val="E8C4C4"/>
                </a:solidFill>
                <a:latin typeface="Calibri"/>
                <a:ea typeface="Calibri"/>
                <a:cs typeface="Calibri"/>
                <a:sym typeface="Calibri"/>
              </a:rPr>
              <a:t>Most of time is sedentary (16.49 hrs/day)</a:t>
            </a:r>
            <a:br>
              <a:rPr lang="en-US" sz="1150">
                <a:solidFill>
                  <a:srgbClr val="E8C4C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50">
                <a:solidFill>
                  <a:srgbClr val="FA907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b="1" lang="en-US" sz="1150">
                <a:solidFill>
                  <a:srgbClr val="E8706A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150">
                <a:solidFill>
                  <a:srgbClr val="E8C4C4"/>
                </a:solidFill>
                <a:latin typeface="Calibri"/>
                <a:ea typeface="Calibri"/>
                <a:cs typeface="Calibri"/>
                <a:sym typeface="Calibri"/>
              </a:rPr>
              <a:t>Sleep data captured only 30.3% of the time</a:t>
            </a:r>
            <a:br>
              <a:rPr lang="en-US" sz="1150">
                <a:solidFill>
                  <a:srgbClr val="E8C4C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50">
                <a:solidFill>
                  <a:srgbClr val="FA907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b="1" lang="en-US" sz="1150">
                <a:solidFill>
                  <a:srgbClr val="E8706A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150">
                <a:solidFill>
                  <a:srgbClr val="E8C4C4"/>
                </a:solidFill>
                <a:latin typeface="Calibri"/>
                <a:ea typeface="Calibri"/>
                <a:cs typeface="Calibri"/>
                <a:sym typeface="Calibri"/>
              </a:rPr>
              <a:t>More sedentary time correlates with poorer sleep (r=−0.54)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0E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3657600" y="4864608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4A4A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6B4A4A"/>
                </a:solidFill>
                <a:latin typeface="Calibri"/>
                <a:ea typeface="Calibri"/>
                <a:cs typeface="Calibri"/>
                <a:sym typeface="Calibri"/>
              </a:rPr>
              <a:t>Bellabeat Marketing Analytics · Data: FitBit Fitness Tracker (Kaggle/Möbius, CC0) · Prepared March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659674" y="320040"/>
            <a:ext cx="2540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1" lang="en-US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bellabeat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VY Wellness Coach - Apps on Google Play" id="289" name="Google Shape;2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019" y="287385"/>
            <a:ext cx="459377" cy="459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